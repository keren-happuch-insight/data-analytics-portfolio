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FC392-0784-412C-9921-318F517A5EBB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16341-05D6-4E2A-B289-86F2F44CC03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7327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6341-05D6-4E2A-B289-86F2F44CC03D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5457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16341-05D6-4E2A-B289-86F2F44CC03D}" type="slidenum">
              <a:rPr lang="en-NG" smtClean="0"/>
              <a:t>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20168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54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451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801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6259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602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5502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1105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9716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8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0933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AD05895-A9C6-4E24-A8F5-528BEE8A8F14}" type="datetimeFigureOut">
              <a:rPr lang="en-NG" smtClean="0"/>
              <a:t>25/05/2026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0DE83FD-72CD-45DE-B294-067C21761A1C}" type="slidenum">
              <a:rPr lang="en-NG" smtClean="0"/>
              <a:t>‹#›</a:t>
            </a:fld>
            <a:endParaRPr lang="en-NG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34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86A0D-82F1-D5A6-ABAA-AB12017BB424}"/>
              </a:ext>
            </a:extLst>
          </p:cNvPr>
          <p:cNvSpPr txBox="1"/>
          <p:nvPr/>
        </p:nvSpPr>
        <p:spPr>
          <a:xfrm>
            <a:off x="432620" y="0"/>
            <a:ext cx="117593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Swoop Performance Analysis</a:t>
            </a:r>
          </a:p>
          <a:p>
            <a:pPr algn="ctr"/>
            <a:r>
              <a:rPr lang="en-US" sz="4000" b="1" dirty="0"/>
              <a:t>Revenue • Customers • Operations</a:t>
            </a:r>
          </a:p>
          <a:p>
            <a:pPr algn="ctr"/>
            <a:r>
              <a:rPr lang="en-US" sz="4000" b="1" dirty="0"/>
              <a:t>Business Intelligence &amp; Data Analytics Project</a:t>
            </a:r>
            <a:endParaRPr lang="en-US" sz="4000" dirty="0"/>
          </a:p>
          <a:p>
            <a:pPr algn="ctr"/>
            <a:r>
              <a:rPr lang="en-US" sz="5400" dirty="0"/>
              <a:t>Prepared By: </a:t>
            </a:r>
            <a:r>
              <a:rPr lang="en-US" sz="5400" i="1" dirty="0"/>
              <a:t>ILEN LOVETH</a:t>
            </a:r>
            <a:endParaRPr lang="en-US" sz="5400" dirty="0"/>
          </a:p>
          <a:p>
            <a:pPr>
              <a:buNone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27331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FA551B-60EA-76DB-316B-C28E58F0348D}"/>
              </a:ext>
            </a:extLst>
          </p:cNvPr>
          <p:cNvSpPr txBox="1"/>
          <p:nvPr/>
        </p:nvSpPr>
        <p:spPr>
          <a:xfrm>
            <a:off x="353961" y="212687"/>
            <a:ext cx="11484078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/>
              <a:t>PROJECT OVERVIEW</a:t>
            </a: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About Swoop</a:t>
            </a:r>
          </a:p>
          <a:p>
            <a:pPr>
              <a:buNone/>
            </a:pPr>
            <a:r>
              <a:rPr lang="en-US" sz="1400" b="1" dirty="0"/>
              <a:t>Swoop is a food delivery platform that allows customers to order meals from multiple restaurants within a single transaction. Operating across San Francisco, Los Angeles, and New York, the company combines convenience with sustainability through its electric scooter delivery network and bulk meal ordering feature.</a:t>
            </a:r>
          </a:p>
          <a:p>
            <a:pPr>
              <a:buNone/>
            </a:pPr>
            <a:r>
              <a:rPr lang="en-US" sz="1400" b="1" dirty="0"/>
              <a:t>As the business expanded, large volumes of data were generated across customers, orders, deliveries, restaurants, and promotions. However, management lacked a </a:t>
            </a:r>
            <a:r>
              <a:rPr lang="en-US" sz="1400" b="1" dirty="0" err="1"/>
              <a:t>centralised</a:t>
            </a:r>
            <a:r>
              <a:rPr lang="en-US" sz="1400" b="1" dirty="0"/>
              <a:t> reporting system capable of turning this data into actionable business insights.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Project Goal</a:t>
            </a:r>
          </a:p>
          <a:p>
            <a:pPr>
              <a:buNone/>
            </a:pPr>
            <a:r>
              <a:rPr lang="en-US" sz="1400" b="1" dirty="0"/>
              <a:t>The goal of this project was to </a:t>
            </a:r>
            <a:r>
              <a:rPr lang="en-US" sz="1400" b="1" dirty="0" err="1"/>
              <a:t>analyse</a:t>
            </a:r>
            <a:r>
              <a:rPr lang="en-US" sz="1400" b="1" dirty="0"/>
              <a:t> Swoop's operational data and develop an interactive dashboard that provides visibility into revenue performance, customer </a:t>
            </a:r>
            <a:r>
              <a:rPr lang="en-US" sz="1400" b="1" dirty="0" err="1"/>
              <a:t>behaviour</a:t>
            </a:r>
            <a:r>
              <a:rPr lang="en-US" sz="1400" b="1" dirty="0"/>
              <a:t>, and operational efficiency.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Tools &amp; Methodology</a:t>
            </a: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Power BI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DAX 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Cleaning &amp;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Modelling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Revenue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Segmentation (RFM)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Cohort Retention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Dashboard Development </a:t>
            </a:r>
          </a:p>
        </p:txBody>
      </p:sp>
    </p:spTree>
    <p:extLst>
      <p:ext uri="{BB962C8B-B14F-4D97-AF65-F5344CB8AC3E}">
        <p14:creationId xmlns:p14="http://schemas.microsoft.com/office/powerpoint/2010/main" val="416532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35104-9887-5E03-961C-0B0B756AF04E}"/>
              </a:ext>
            </a:extLst>
          </p:cNvPr>
          <p:cNvSpPr txBox="1"/>
          <p:nvPr/>
        </p:nvSpPr>
        <p:spPr>
          <a:xfrm>
            <a:off x="1150374" y="164715"/>
            <a:ext cx="861305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/>
              <a:t>BUSINESS PROBLEM</a:t>
            </a:r>
          </a:p>
          <a:p>
            <a:pPr algn="ctr">
              <a:buNone/>
            </a:pPr>
            <a:endParaRPr lang="en-US" sz="3200" b="1" dirty="0"/>
          </a:p>
          <a:p>
            <a:pPr>
              <a:buNone/>
            </a:pPr>
            <a:r>
              <a:rPr lang="en-US" b="1" dirty="0"/>
              <a:t>Despite its rapid growth, Swoop faces several challenges that limit its ability to make data-driven decisions.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Key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Revenue performance is difficult to monitor across products, customers, and order types.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High-value customers are not clearly identified, limiting customer retention efforts.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Delivery and operational costs continue to increase without detailed performance visibility.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retention trends are not actively monitored.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Decision-makers lack access to a real-time reporting environment.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Why This Matters</a:t>
            </a:r>
          </a:p>
          <a:p>
            <a:pPr>
              <a:buNone/>
            </a:pPr>
            <a:r>
              <a:rPr lang="en-US" b="1" dirty="0"/>
              <a:t>Without reliable business intelligence, management may struggle to identify growth opportunities, improve profitability, and </a:t>
            </a:r>
            <a:r>
              <a:rPr lang="en-US" b="1" dirty="0" err="1"/>
              <a:t>optimise</a:t>
            </a:r>
            <a:r>
              <a:rPr lang="en-US" b="1" dirty="0"/>
              <a:t> operational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8998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5DE75-55DB-B527-014D-B3C690BE8ABD}"/>
              </a:ext>
            </a:extLst>
          </p:cNvPr>
          <p:cNvSpPr txBox="1"/>
          <p:nvPr/>
        </p:nvSpPr>
        <p:spPr>
          <a:xfrm>
            <a:off x="530941" y="0"/>
            <a:ext cx="10028903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/>
              <a:t>Project Objectives</a:t>
            </a:r>
          </a:p>
          <a:p>
            <a:pPr algn="ctr">
              <a:buNone/>
            </a:pPr>
            <a:endParaRPr lang="en-US" sz="3200" b="1" dirty="0"/>
          </a:p>
          <a:p>
            <a:pPr>
              <a:buNone/>
            </a:pPr>
            <a:r>
              <a:rPr lang="en-US" b="1" dirty="0"/>
              <a:t>This project focused on four key objectives: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Revenue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Analyse</a:t>
            </a:r>
            <a:r>
              <a:rPr lang="en-US" b="1" dirty="0"/>
              <a:t> revenue performance across customers, orders, and meal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Identify revenue drivers and profitable products.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Monitor revenue trends over time.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Customer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Identify high-value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Segment customers using RFM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Evaluate customer retention </a:t>
            </a:r>
            <a:r>
              <a:rPr lang="en-US" b="1" dirty="0" err="1"/>
              <a:t>behaviour</a:t>
            </a:r>
            <a:r>
              <a:rPr lang="en-US" b="1" dirty="0"/>
              <a:t> through cohort analysis.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Operational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Analyse</a:t>
            </a:r>
            <a:r>
              <a:rPr lang="en-US" b="1" dirty="0"/>
              <a:t> delivery costs.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Measure courier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Compare profitability between Bulk and Standard orders.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Dashboard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Create interactive dashboards.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Monitor KPIs in real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 faster and more informed business decisions. </a:t>
            </a:r>
          </a:p>
        </p:txBody>
      </p:sp>
    </p:spTree>
    <p:extLst>
      <p:ext uri="{BB962C8B-B14F-4D97-AF65-F5344CB8AC3E}">
        <p14:creationId xmlns:p14="http://schemas.microsoft.com/office/powerpoint/2010/main" val="318758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04A343-47F1-D2CA-D56D-52D5A11F3786}"/>
              </a:ext>
            </a:extLst>
          </p:cNvPr>
          <p:cNvSpPr txBox="1"/>
          <p:nvPr/>
        </p:nvSpPr>
        <p:spPr>
          <a:xfrm>
            <a:off x="2684205" y="0"/>
            <a:ext cx="85049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 MODEL &amp; ANALYTICAL APPROACH</a:t>
            </a:r>
            <a:endParaRPr lang="en-NG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9834A-3640-07BA-8EFF-870289224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633022"/>
            <a:ext cx="5732206" cy="6154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54DE2-566A-994A-7540-CF36DD033AC9}"/>
              </a:ext>
            </a:extLst>
          </p:cNvPr>
          <p:cNvSpPr txBox="1"/>
          <p:nvPr/>
        </p:nvSpPr>
        <p:spPr>
          <a:xfrm>
            <a:off x="5919019" y="655747"/>
            <a:ext cx="59780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analysis was built using data from multiple business entities, including Users, Orders, Order Items, Deliveries, Couriers, Restaurants, Promotions, Refunds, and Sessions.</a:t>
            </a:r>
          </a:p>
          <a:p>
            <a:pPr>
              <a:buNone/>
            </a:pPr>
            <a:r>
              <a:rPr lang="en-US" dirty="0"/>
              <a:t>To ensure accurate reporting, the following steps were completed: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validation and quality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 creation between business 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Development of calculated measures using DAX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Revenue and profitability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segmentation and retention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design and </a:t>
            </a:r>
            <a:r>
              <a:rPr lang="en-US" dirty="0" err="1"/>
              <a:t>visualisation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Key KPIs Developed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Order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Margin 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Delivery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Retention Metrics</a:t>
            </a:r>
          </a:p>
        </p:txBody>
      </p:sp>
    </p:spTree>
    <p:extLst>
      <p:ext uri="{BB962C8B-B14F-4D97-AF65-F5344CB8AC3E}">
        <p14:creationId xmlns:p14="http://schemas.microsoft.com/office/powerpoint/2010/main" val="424811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3D7CEA-165C-417F-0208-83D73A7CF950}"/>
              </a:ext>
            </a:extLst>
          </p:cNvPr>
          <p:cNvSpPr txBox="1"/>
          <p:nvPr/>
        </p:nvSpPr>
        <p:spPr>
          <a:xfrm>
            <a:off x="2654709" y="-122660"/>
            <a:ext cx="85638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EXECUTIVE OVERVIEW DASHBOARD</a:t>
            </a:r>
            <a:endParaRPr lang="en-NG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BA0AE-500B-99BD-D001-E940E9D0D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62115"/>
            <a:ext cx="6823587" cy="6395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ACE6AF-C26E-60FC-778E-422097A3E5CB}"/>
              </a:ext>
            </a:extLst>
          </p:cNvPr>
          <p:cNvSpPr txBox="1"/>
          <p:nvPr/>
        </p:nvSpPr>
        <p:spPr>
          <a:xfrm>
            <a:off x="7030064" y="813124"/>
            <a:ext cx="503411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This dashboard provides management with a high-level summary of revenue, profitability, customer activity, and business performance.</a:t>
            </a: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Revenue remained relatively stable throughout the reporting period, indicating consistent customer demand.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Lunch and Dinner categories generated the highest revenue contribution, highlighting peak meal consumption patterns.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Standard orders represented the largest share of transaction volume across the platform.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Bulk orders generated higher profit despite lower order volume, demonstrating stronger profitability per transaction.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Profitability varies across meal categories, showing the importance of </a:t>
            </a:r>
            <a:r>
              <a:rPr lang="en-US" sz="1400" b="1" dirty="0" err="1"/>
              <a:t>analysing</a:t>
            </a:r>
            <a:r>
              <a:rPr lang="en-US" sz="1400" b="1" dirty="0"/>
              <a:t> both revenue and profit. </a:t>
            </a: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Strong revenue performance supports continued business growth.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Bulk ordering presents an opportunity to improve margins.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High-performing meal categories can be leveraged to drive future revenue growth. </a:t>
            </a:r>
          </a:p>
          <a:p>
            <a:pPr>
              <a:buNone/>
            </a:pPr>
            <a:r>
              <a:rPr lang="en-US" sz="1400" b="1" dirty="0"/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Promote high-margin meal categories through targeted marketing campaigns.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Encourage bulk orders through discounts and bundle offers.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Continue monitoring revenue trends to identify seasonal opportunities. </a:t>
            </a:r>
          </a:p>
        </p:txBody>
      </p:sp>
    </p:spTree>
    <p:extLst>
      <p:ext uri="{BB962C8B-B14F-4D97-AF65-F5344CB8AC3E}">
        <p14:creationId xmlns:p14="http://schemas.microsoft.com/office/powerpoint/2010/main" val="262796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F81745-1204-8C10-0885-4C776CA985FC}"/>
              </a:ext>
            </a:extLst>
          </p:cNvPr>
          <p:cNvSpPr txBox="1"/>
          <p:nvPr/>
        </p:nvSpPr>
        <p:spPr>
          <a:xfrm>
            <a:off x="3224982" y="0"/>
            <a:ext cx="7728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CUSTOMER INSIGHTS DASHBOARD</a:t>
            </a:r>
            <a:endParaRPr lang="en-NG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D9B3C-832D-3DC1-33F6-524745BF6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2" y="584774"/>
            <a:ext cx="6453916" cy="6273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2D2CD2-74DD-282C-F3EF-6559E33BD4CC}"/>
              </a:ext>
            </a:extLst>
          </p:cNvPr>
          <p:cNvSpPr txBox="1"/>
          <p:nvPr/>
        </p:nvSpPr>
        <p:spPr>
          <a:xfrm>
            <a:off x="6656439" y="517803"/>
            <a:ext cx="528975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Customer Analysis</a:t>
            </a:r>
          </a:p>
          <a:p>
            <a:pPr>
              <a:buNone/>
            </a:pPr>
            <a:r>
              <a:rPr lang="en-US" sz="1400" b="1" dirty="0"/>
              <a:t>The Customer Insights dashboard focuses on customer acquisition, spending </a:t>
            </a:r>
            <a:r>
              <a:rPr lang="en-US" sz="1400" b="1" dirty="0" err="1"/>
              <a:t>behaviour</a:t>
            </a:r>
            <a:r>
              <a:rPr lang="en-US" sz="1400" b="1" dirty="0"/>
              <a:t>, segmentation, and retention.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 relatively small group of customers contributes a significant share of total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Mobile devices remain the most frequently used ordering platform.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Customer acquisition channels perform differently, indicating opportunities for marketing </a:t>
            </a:r>
            <a:r>
              <a:rPr lang="en-US" sz="1400" b="1" dirty="0" err="1"/>
              <a:t>optimisation</a:t>
            </a:r>
            <a:r>
              <a:rPr lang="en-US" sz="1400" b="1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RFM analysis identified distinct customer value segments ranging from high-value to low-value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Cohort analysis revealed a gradual decline in customer retention after acquisition. 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Retaining high-value customers has a direct impact on revenue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Marketing investment can be optimized by focusing on high-performing acquisition channels.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Customer retention represents a major opportunity for long-term growth. 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Introduce loyalty and rewards </a:t>
            </a:r>
            <a:r>
              <a:rPr lang="en-US" sz="1400" b="1" dirty="0" err="1"/>
              <a:t>programmes</a:t>
            </a:r>
            <a:r>
              <a:rPr lang="en-US" sz="1400" b="1" dirty="0"/>
              <a:t> for high-value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Develop </a:t>
            </a:r>
            <a:r>
              <a:rPr lang="en-US" sz="1400" b="1" dirty="0" err="1"/>
              <a:t>personalised</a:t>
            </a:r>
            <a:r>
              <a:rPr lang="en-US" sz="1400" b="1" dirty="0"/>
              <a:t> marketing campaigns based on customer segments.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Re-engage inactive customers through targeted promotions.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Focus acquisition efforts on channels delivering higher customer quality. </a:t>
            </a:r>
          </a:p>
        </p:txBody>
      </p:sp>
    </p:spTree>
    <p:extLst>
      <p:ext uri="{BB962C8B-B14F-4D97-AF65-F5344CB8AC3E}">
        <p14:creationId xmlns:p14="http://schemas.microsoft.com/office/powerpoint/2010/main" val="357752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43CAF-2FE2-7F64-3D9B-7B9A4438E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8" y="466788"/>
            <a:ext cx="6882581" cy="6391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373405-480C-3B72-3A27-25D208F6EEF9}"/>
              </a:ext>
            </a:extLst>
          </p:cNvPr>
          <p:cNvSpPr txBox="1"/>
          <p:nvPr/>
        </p:nvSpPr>
        <p:spPr>
          <a:xfrm>
            <a:off x="2733367" y="-117987"/>
            <a:ext cx="8799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OPERATIONS &amp; DELIVERY DASHBOARD</a:t>
            </a:r>
            <a:endParaRPr lang="en-NG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58054-4043-A613-1A50-7C4CFB5C3997}"/>
              </a:ext>
            </a:extLst>
          </p:cNvPr>
          <p:cNvSpPr txBox="1"/>
          <p:nvPr/>
        </p:nvSpPr>
        <p:spPr>
          <a:xfrm>
            <a:off x="7133302" y="565111"/>
            <a:ext cx="489646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Operational Performance Analysis</a:t>
            </a:r>
          </a:p>
          <a:p>
            <a:pPr>
              <a:buNone/>
            </a:pPr>
            <a:r>
              <a:rPr lang="en-US" sz="1400" b="1" dirty="0"/>
              <a:t>This dashboard evaluates delivery operations, courier performance, customer satisfaction, and order profitability.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Delivery costs vary slightly across operating cities.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Customer ratings remain consistently high across delivery methods.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Vehicle type influences operational output and delivery activity.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Bulk orders continue to generate stronger profit performance compared to standard orders.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Delivery operations remain efficient while maintaining positive customer experiences. 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Delivery costs directly influence overall profitability.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Customer satisfaction contributes to retention and brand reputation.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Efficient courier allocation improves operational effectiveness. 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Monitor delivery costs regularly to identify </a:t>
            </a:r>
            <a:r>
              <a:rPr lang="en-US" sz="1400" b="1" dirty="0" err="1"/>
              <a:t>optimisation</a:t>
            </a:r>
            <a:r>
              <a:rPr lang="en-US" sz="1400" b="1" dirty="0"/>
              <a:t> opportunities.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Allocate resources towards high-performing delivery methods.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Maintain service quality standards through continuous performance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Increase promotion of profitable order types. </a:t>
            </a:r>
          </a:p>
        </p:txBody>
      </p:sp>
    </p:spTree>
    <p:extLst>
      <p:ext uri="{BB962C8B-B14F-4D97-AF65-F5344CB8AC3E}">
        <p14:creationId xmlns:p14="http://schemas.microsoft.com/office/powerpoint/2010/main" val="339838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9C23F6-5C23-D2B2-0DD2-0DF44552FC69}"/>
              </a:ext>
            </a:extLst>
          </p:cNvPr>
          <p:cNvSpPr txBox="1"/>
          <p:nvPr/>
        </p:nvSpPr>
        <p:spPr>
          <a:xfrm>
            <a:off x="334297" y="275919"/>
            <a:ext cx="1094330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/>
              <a:t>BUSINESS IMPACT &amp; STRATEGIC RECOMMENDATIONS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Business Impact</a:t>
            </a:r>
          </a:p>
          <a:p>
            <a:pPr>
              <a:buNone/>
            </a:pPr>
            <a:r>
              <a:rPr lang="en-US" dirty="0"/>
              <a:t>The dashboard provides management with a single source of truth for monitoring business performance.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Revenue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visibility into revenue drivers and profitable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understanding of customer spending patterns.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Enhanced ability to identify growth opportunities.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Customer Retention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identification of high-value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targeting of retention and engagement campaigns.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visibility into customer retention trends.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Operational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Greater transparency into delivery costs and courier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monitoring of operational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allocation of resources across cities and delivery methods.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access to business-critical KPIs.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reliance on manual reporting.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confidence in strategic decisions.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64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940063-6081-77D9-BCD9-496E55F2B4FA}"/>
              </a:ext>
            </a:extLst>
          </p:cNvPr>
          <p:cNvSpPr txBox="1"/>
          <p:nvPr/>
        </p:nvSpPr>
        <p:spPr>
          <a:xfrm>
            <a:off x="599768" y="892302"/>
            <a:ext cx="64991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Conclusion</a:t>
            </a:r>
          </a:p>
          <a:p>
            <a:pPr>
              <a:buNone/>
            </a:pPr>
            <a:r>
              <a:rPr lang="en-US" dirty="0"/>
              <a:t>This project successfully transformed Swoop's operational data into a comprehensive business intelligence solution using PostgreSQL and Power BI.</a:t>
            </a:r>
          </a:p>
          <a:p>
            <a:pPr>
              <a:buNone/>
            </a:pPr>
            <a:r>
              <a:rPr lang="en-US" dirty="0"/>
              <a:t>Through revenue analysis, customer segmentation, cohort retention analysis, and operational performance monitoring, the project provided valuable insights into the factors driving business performance.</a:t>
            </a:r>
          </a:p>
          <a:p>
            <a:pPr>
              <a:buNone/>
            </a:pPr>
            <a:r>
              <a:rPr lang="en-US" dirty="0"/>
              <a:t>The dashboards enable management to monitor key metrics, identify growth opportunities, improve customer retention, </a:t>
            </a:r>
            <a:r>
              <a:rPr lang="en-US" dirty="0" err="1"/>
              <a:t>optimise</a:t>
            </a:r>
            <a:r>
              <a:rPr lang="en-US" dirty="0"/>
              <a:t> operational efficiency, and make more informed business decisions.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Final Takeaway</a:t>
            </a:r>
          </a:p>
          <a:p>
            <a:pPr>
              <a:buNone/>
            </a:pPr>
            <a:r>
              <a:rPr lang="en-US" dirty="0"/>
              <a:t>By turning raw operational data into actionable insights, Swoop is better positioned to improve profitability, strengthen customer relationships, and support future business growth.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94A70-73DF-6BAA-90D4-B31D261039D8}"/>
              </a:ext>
            </a:extLst>
          </p:cNvPr>
          <p:cNvSpPr txBox="1"/>
          <p:nvPr/>
        </p:nvSpPr>
        <p:spPr>
          <a:xfrm>
            <a:off x="457200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1076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30E5E5-7B3B-D38F-FFDC-2BA2755A8AF0}"/>
              </a:ext>
            </a:extLst>
          </p:cNvPr>
          <p:cNvSpPr txBox="1"/>
          <p:nvPr/>
        </p:nvSpPr>
        <p:spPr>
          <a:xfrm>
            <a:off x="3500285" y="224359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Thank You</a:t>
            </a:r>
            <a:endParaRPr lang="en-NG" sz="9600" dirty="0"/>
          </a:p>
        </p:txBody>
      </p:sp>
    </p:spTree>
    <p:extLst>
      <p:ext uri="{BB962C8B-B14F-4D97-AF65-F5344CB8AC3E}">
        <p14:creationId xmlns:p14="http://schemas.microsoft.com/office/powerpoint/2010/main" val="3719909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112</TotalTime>
  <Words>1146</Words>
  <Application>Microsoft Office PowerPoint</Application>
  <PresentationFormat>Widescreen</PresentationFormat>
  <Paragraphs>162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LOVETH ILEN</dc:creator>
  <cp:lastModifiedBy>LOVETH ILEN</cp:lastModifiedBy>
  <cp:revision>1</cp:revision>
  <dcterms:created xsi:type="dcterms:W3CDTF">2026-05-25T05:53:56Z</dcterms:created>
  <dcterms:modified xsi:type="dcterms:W3CDTF">2026-05-25T08:15:53Z</dcterms:modified>
</cp:coreProperties>
</file>