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5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58" r:id="rId14"/>
    <p:sldId id="269" r:id="rId15"/>
    <p:sldId id="270" r:id="rId16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5FF4-B006-B052-3741-87D3B3473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94309-FFC4-64CD-8AF0-FEAB4FE03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17CB-6646-D8BF-AF12-49ABA7D6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8BB9-E8E9-00BA-2AE9-006F8825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D382D-5BC1-F336-AF20-CB21B5AA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4261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4081-FA73-E097-2830-C2C993CC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5061D-33BB-84DD-14BF-8221BA40C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8E9C6-0100-919A-2B72-892911C5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AC0A-5C42-8E48-357F-C610AD59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12009-B890-65F8-8D8C-2CA2B2CD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8613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7380-B24D-8AA5-A4F2-CADA49201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56424-4B2A-CD30-47DE-F251D93E2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2ACE1-A563-7E3E-BFAE-33337858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12767-9130-D979-A2A9-09FB6B59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9867-CBEB-6CB5-2348-CCD68DDD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3051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EFA8-356E-8EC1-0388-ECFAFC3E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25A34-A8C2-7DBB-D223-7742214D1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822C3-377A-78E3-D0FB-5C1E9D669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110E0-8C4E-BFE9-5AFA-C7AB7900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0D84D-E005-28EC-C1EE-DFD7C4537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2D730-6ED4-9A94-9F1F-110437F0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157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7AB8-C51D-DDD5-D1BD-68FCB317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05F3D-155F-281C-80BB-F98E3EAEC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EEAEC-2FB7-0E0D-AAF8-F8643CF50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DFC28-6792-A8CA-D854-5E01BE703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7765A-0A78-244E-49CE-19F6926D0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3B88E-8CFF-A0CE-B84D-E4F66878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30B08-1598-16A9-F982-FC99506A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736643-645B-A082-3887-DBEFDABD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2288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1C27-FA18-048B-4019-C1C285E3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8134E-A921-F302-465B-558BE3A9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779FD-DF88-67E5-2804-B4336751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83D96-3AAF-5DB7-2685-520D79AF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5867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DF6B6-3666-7770-77ED-DEE32E50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76E6F-EDB9-909F-AEF9-0BDFD6A2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AE61E-95AE-772C-45A9-6ADB2E23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9692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7BCC-8660-4325-32E5-730C5DD9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FFA7D-05CE-C1B1-1319-CABDC20B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3BD3B-A237-50B7-917D-6C10BF022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BF27E-2D40-3265-DA48-D7404398F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944B7-FEE6-7313-2493-DA81EA079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2C3A9-6AB4-BB96-FFF8-B71F93D6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0795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EB02-CD3A-D39D-4469-3A18EB05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93833-F054-B55A-6BBC-22D57FD99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279F7-EC30-D7DD-F86D-3C6157B7D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772FD-9DE9-ED74-A067-880AE263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19894-433F-E05E-4BE8-B635D15D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FE5CF-8C38-442F-1BE3-9756844F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2641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1F97-2B64-5047-B99D-DFA5EF8F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48497-E165-2094-7962-23017B374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B060B-4D61-3D47-3140-E4828752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751F-582E-4F49-0088-3519897F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7B7E6-AA4C-652D-4F57-DCD73C6E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5543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ECDDC-112E-CDDB-CC5A-1A4A87343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D42C3-1DB1-54D8-4126-CDA8CAC82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26D57-6F34-F0A0-9BBC-5507F20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7544F-200D-02BB-18B3-EBA9E550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FAC7D-5601-5DDF-3205-97792782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0535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B3F3C9-3652-5A72-EF21-E53F5794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AB24E-1F8C-A0D0-1326-A7627A5A4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68940-AF6A-0605-8BA3-758811958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F3270-7885-42CD-991C-F2C432D56C1F}" type="datetimeFigureOut">
              <a:rPr lang="en-NG" smtClean="0"/>
              <a:t>08/03/2026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60EEB-654E-A2A2-6298-F519A7D66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947C-3041-4995-CAA5-397C038F3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A0822-AD16-44EC-A04A-AFB78F16EA7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2535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200B-4F57-E8FC-134D-45D305E6C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84137"/>
            <a:ext cx="9144000" cy="3344863"/>
          </a:xfrm>
        </p:spPr>
        <p:txBody>
          <a:bodyPr>
            <a:noAutofit/>
          </a:bodyPr>
          <a:lstStyle/>
          <a:p>
            <a:r>
              <a:rPr lang="en-US" sz="6600" b="1" dirty="0"/>
              <a:t>BRIGHTCART  Website PERFOMANCE Analytics </a:t>
            </a:r>
            <a:br>
              <a:rPr lang="en-US" sz="8000" dirty="0"/>
            </a:br>
            <a:endParaRPr lang="en-NG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1EB59-358A-1F7D-D59D-DFE63303C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477" y="2323783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Website Performance and Marketing ROI Analysis</a:t>
            </a:r>
            <a:endParaRPr lang="en-NG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0E5A-8FD7-8859-7A36-AF0BC0101BA1}"/>
              </a:ext>
            </a:extLst>
          </p:cNvPr>
          <p:cNvSpPr txBox="1"/>
          <p:nvPr/>
        </p:nvSpPr>
        <p:spPr>
          <a:xfrm>
            <a:off x="775877" y="3864487"/>
            <a:ext cx="79215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Presented by:</a:t>
            </a:r>
            <a:br>
              <a:rPr lang="en-US" sz="2000" b="1" dirty="0"/>
            </a:br>
            <a:r>
              <a:rPr lang="en-US" sz="2000" b="1" dirty="0"/>
              <a:t>LOVETH ILEN</a:t>
            </a:r>
          </a:p>
          <a:p>
            <a:pPr>
              <a:buNone/>
            </a:pPr>
            <a:r>
              <a:rPr lang="en-US" sz="2000" b="1" dirty="0"/>
              <a:t>Tools Used:</a:t>
            </a:r>
            <a:br>
              <a:rPr lang="en-US" sz="2000" b="1" dirty="0"/>
            </a:br>
            <a:r>
              <a:rPr lang="en-US" sz="2000" b="1" dirty="0"/>
              <a:t>Microsoft Excel | Data Analysis | Dashboard Visualization</a:t>
            </a:r>
          </a:p>
          <a:p>
            <a:pPr>
              <a:buNone/>
            </a:pPr>
            <a:r>
              <a:rPr lang="en-US" sz="2000" b="1" dirty="0"/>
              <a:t>Date: 8/3/2026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4A2DF-9DCD-DEBA-70AA-72932A992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407" y="0"/>
            <a:ext cx="2717593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6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CDABD3-0A6F-1CCD-827E-16B7567856E4}"/>
              </a:ext>
            </a:extLst>
          </p:cNvPr>
          <p:cNvSpPr txBox="1"/>
          <p:nvPr/>
        </p:nvSpPr>
        <p:spPr>
          <a:xfrm>
            <a:off x="1028700" y="1166843"/>
            <a:ext cx="81153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The company operates an online platform that depends on website traffic from different digital channels such as Organic Search, Direct visits, Social Media, Referrals, and Paid Advertising.</a:t>
            </a:r>
          </a:p>
          <a:p>
            <a:pPr>
              <a:buNone/>
            </a:pPr>
            <a:r>
              <a:rPr lang="en-US" sz="2000" b="1" dirty="0"/>
              <a:t>Every visitor that lands on the website represents a potential customer. Because of this, the company invests time and marketing resources into attracting users and encouraging them to explore the site and complete purchases.</a:t>
            </a:r>
          </a:p>
          <a:p>
            <a:pPr>
              <a:buNone/>
            </a:pPr>
            <a:r>
              <a:rPr lang="en-US" sz="2000" b="1" dirty="0"/>
              <a:t>For this project, I wanted to understand how well the website is performing. Specifically, I analyzed where visitors are coming from, when they are most active, and which factors influence whether they convert into customers.</a:t>
            </a:r>
          </a:p>
          <a:p>
            <a:pPr>
              <a:buNone/>
            </a:pPr>
            <a:r>
              <a:rPr lang="en-US" sz="2000" b="1" dirty="0"/>
              <a:t>By understanding these patterns, the company can make smarter marketing decisions and improve the return on its marketing efforts.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D9BCB-1E09-6131-4976-BB0D8A2EFFD7}"/>
              </a:ext>
            </a:extLst>
          </p:cNvPr>
          <p:cNvSpPr txBox="1"/>
          <p:nvPr/>
        </p:nvSpPr>
        <p:spPr>
          <a:xfrm>
            <a:off x="2973029" y="268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BUSINESS OVERVIEW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AD6B9F-4F2C-E5DC-90B6-F0A630108AB1}"/>
              </a:ext>
            </a:extLst>
          </p:cNvPr>
          <p:cNvCxnSpPr>
            <a:cxnSpLocks/>
          </p:cNvCxnSpPr>
          <p:nvPr/>
        </p:nvCxnSpPr>
        <p:spPr>
          <a:xfrm flipV="1">
            <a:off x="0" y="688258"/>
            <a:ext cx="12093677" cy="78658"/>
          </a:xfrm>
          <a:prstGeom prst="line">
            <a:avLst/>
          </a:prstGeom>
          <a:ln w="698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34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6213BA-3504-7369-0896-4FB20EF30E4C}"/>
              </a:ext>
            </a:extLst>
          </p:cNvPr>
          <p:cNvSpPr txBox="1"/>
          <p:nvPr/>
        </p:nvSpPr>
        <p:spPr>
          <a:xfrm>
            <a:off x="0" y="737136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While the website attracts a good number of visitors, the company does not have a clear picture of which channels and user behaviors are actually driving conversions.</a:t>
            </a:r>
          </a:p>
          <a:p>
            <a:pPr>
              <a:buNone/>
            </a:pPr>
            <a:r>
              <a:rPr lang="en-US" b="1" dirty="0"/>
              <a:t>Some key questions needed to be answered: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Which traffic sources bring the most valuable visitors?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When are users most active on the website?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Which devices lead to the highest conversions?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Which locations generate the best results?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Are there any marketing channels that are underperforming?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None/>
            </a:pPr>
            <a:r>
              <a:rPr lang="en-US" b="1" dirty="0"/>
              <a:t>Without this information, marketing budgets may not be used in the most effective way.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BB399-9281-C42B-071A-849429716AF6}"/>
              </a:ext>
            </a:extLst>
          </p:cNvPr>
          <p:cNvSpPr txBox="1"/>
          <p:nvPr/>
        </p:nvSpPr>
        <p:spPr>
          <a:xfrm>
            <a:off x="6096000" y="745490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 this project, my goal was to use data analysis to move from guessing to understanding how the website performs.</a:t>
            </a:r>
          </a:p>
          <a:p>
            <a:pPr>
              <a:buNone/>
            </a:pPr>
            <a:r>
              <a:rPr lang="en-US" b="1" dirty="0"/>
              <a:t>I focused 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Identifying peak traffic hours and engagement periods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Understanding which traffic sources bring the most conversions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Analyzing user behavior across devices and locations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Discovering patterns in when and how users complete purchases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Providing recommendations that can help the company improve marketing ROI and overall website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EAC6A-2033-807B-47F0-1FBF28E5301E}"/>
              </a:ext>
            </a:extLst>
          </p:cNvPr>
          <p:cNvSpPr txBox="1"/>
          <p:nvPr/>
        </p:nvSpPr>
        <p:spPr>
          <a:xfrm>
            <a:off x="7081838" y="-1226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THE 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2B4EE-8928-CCF6-13E9-52D31B99AE9C}"/>
              </a:ext>
            </a:extLst>
          </p:cNvPr>
          <p:cNvSpPr txBox="1"/>
          <p:nvPr/>
        </p:nvSpPr>
        <p:spPr>
          <a:xfrm>
            <a:off x="409575" y="16430"/>
            <a:ext cx="7029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THE BUSINESS CHALLENGE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B25363-E9F4-D127-D274-7FCD32AD3A6B}"/>
              </a:ext>
            </a:extLst>
          </p:cNvPr>
          <p:cNvCxnSpPr>
            <a:cxnSpLocks/>
          </p:cNvCxnSpPr>
          <p:nvPr/>
        </p:nvCxnSpPr>
        <p:spPr>
          <a:xfrm>
            <a:off x="5972175" y="43934"/>
            <a:ext cx="0" cy="6814066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C61997-2F3E-3391-4D86-1978FBA9AC7A}"/>
              </a:ext>
            </a:extLst>
          </p:cNvPr>
          <p:cNvCxnSpPr>
            <a:cxnSpLocks/>
          </p:cNvCxnSpPr>
          <p:nvPr/>
        </p:nvCxnSpPr>
        <p:spPr>
          <a:xfrm flipV="1">
            <a:off x="0" y="567154"/>
            <a:ext cx="12192000" cy="7739"/>
          </a:xfrm>
          <a:prstGeom prst="line">
            <a:avLst/>
          </a:prstGeom>
          <a:ln w="349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69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7612A0-5034-A1A4-BEF0-92F656944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491"/>
            <a:ext cx="12192000" cy="58206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2E23CC-17AB-2E08-E7C1-1C67F6F534C7}"/>
              </a:ext>
            </a:extLst>
          </p:cNvPr>
          <p:cNvSpPr txBox="1"/>
          <p:nvPr/>
        </p:nvSpPr>
        <p:spPr>
          <a:xfrm>
            <a:off x="108154" y="5977617"/>
            <a:ext cx="11611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This dashboard provides a complete view of website traffic performance, conversion behavior, and user engagement across multiple dimensions including traffic source, time, device, and geographic location.</a:t>
            </a:r>
            <a:endParaRPr lang="en-NG" b="1" dirty="0"/>
          </a:p>
        </p:txBody>
      </p:sp>
    </p:spTree>
    <p:extLst>
      <p:ext uri="{BB962C8B-B14F-4D97-AF65-F5344CB8AC3E}">
        <p14:creationId xmlns:p14="http://schemas.microsoft.com/office/powerpoint/2010/main" val="188350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843106-A186-F7A8-F083-3E66ACF48B26}"/>
              </a:ext>
            </a:extLst>
          </p:cNvPr>
          <p:cNvSpPr txBox="1"/>
          <p:nvPr/>
        </p:nvSpPr>
        <p:spPr>
          <a:xfrm>
            <a:off x="787400" y="2692399"/>
            <a:ext cx="1140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Analysis</a:t>
            </a:r>
          </a:p>
          <a:p>
            <a:pPr>
              <a:buNone/>
            </a:pPr>
            <a:r>
              <a:rPr lang="en-US" sz="2000" b="1" dirty="0"/>
              <a:t>The website recorded 1,079 total visits, which resulted in 447 purchases. This gives us a conversion rate of about 41%, which is quite strong.</a:t>
            </a:r>
          </a:p>
          <a:p>
            <a:pPr>
              <a:buNone/>
            </a:pPr>
            <a:r>
              <a:rPr lang="en-US" sz="2000" b="1" dirty="0"/>
              <a:t>On average, users spend 3 minutes and 9 seconds on the site and visit around 8 pages during a session.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Strategic Insight</a:t>
            </a:r>
          </a:p>
          <a:p>
            <a:pPr>
              <a:buNone/>
            </a:pPr>
            <a:r>
              <a:rPr lang="en-US" sz="2000" b="1" dirty="0"/>
              <a:t>These numbers suggest that visitors are not just landing on the website and leaving. Instead, they are exploring multiple pages before making a purchase, which indicates strong engagement.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Recommendation</a:t>
            </a:r>
          </a:p>
          <a:p>
            <a:pPr>
              <a:buNone/>
            </a:pPr>
            <a:r>
              <a:rPr lang="en-US" sz="2000" b="1" dirty="0"/>
              <a:t>The company should continue improving the website’s navigation and product discovery experience so visitors can easily explore more pages and complete purchases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CFCBE-41CA-3FBE-0CE6-BCA6712B18B2}"/>
              </a:ext>
            </a:extLst>
          </p:cNvPr>
          <p:cNvSpPr txBox="1"/>
          <p:nvPr/>
        </p:nvSpPr>
        <p:spPr>
          <a:xfrm>
            <a:off x="363220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WEBSITE KPI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DD396-A9EA-CDC6-193E-97B676CF0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584775"/>
            <a:ext cx="10629900" cy="200091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0465E0-5C94-6343-7CE4-6E8C93D8EF72}"/>
              </a:ext>
            </a:extLst>
          </p:cNvPr>
          <p:cNvCxnSpPr>
            <a:cxnSpLocks/>
          </p:cNvCxnSpPr>
          <p:nvPr/>
        </p:nvCxnSpPr>
        <p:spPr>
          <a:xfrm>
            <a:off x="0" y="501445"/>
            <a:ext cx="1219200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2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17BA3F-DB31-4ED8-F13E-6E80FCE04335}"/>
              </a:ext>
            </a:extLst>
          </p:cNvPr>
          <p:cNvSpPr txBox="1"/>
          <p:nvPr/>
        </p:nvSpPr>
        <p:spPr>
          <a:xfrm>
            <a:off x="685801" y="3671888"/>
            <a:ext cx="1137285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Analysis</a:t>
            </a:r>
          </a:p>
          <a:p>
            <a:pPr>
              <a:buNone/>
            </a:pPr>
            <a:r>
              <a:rPr lang="en-US" sz="2000" b="1" dirty="0"/>
              <a:t>Website traffic changes throughout the day, with some hours showing higher activity than others. There are noticeable spikes during certain morning and evening periods.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Strategic Insight</a:t>
            </a:r>
          </a:p>
          <a:p>
            <a:pPr>
              <a:buNone/>
            </a:pPr>
            <a:r>
              <a:rPr lang="en-US" sz="2000" b="1" dirty="0"/>
              <a:t>These peaks represent the times when users are most active and likely browsing the website.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Recommendation</a:t>
            </a:r>
          </a:p>
          <a:p>
            <a:pPr>
              <a:buNone/>
            </a:pPr>
            <a:r>
              <a:rPr lang="en-US" sz="2000" b="1" dirty="0"/>
              <a:t>Marketing campaigns such as promotional emails, ads, or social media posts should be scheduled during these peak hours to reach the largest number of active users.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57FCE-3EA7-FBED-61D0-4C256E7D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14" y="157163"/>
            <a:ext cx="11098571" cy="327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3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A29FC-77E9-392E-5E81-521D134F09A9}"/>
              </a:ext>
            </a:extLst>
          </p:cNvPr>
          <p:cNvSpPr txBox="1"/>
          <p:nvPr/>
        </p:nvSpPr>
        <p:spPr>
          <a:xfrm>
            <a:off x="0" y="3780234"/>
            <a:ext cx="1204451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1600" b="1" dirty="0"/>
              <a:t>Analysis</a:t>
            </a:r>
          </a:p>
          <a:p>
            <a:pPr>
              <a:buNone/>
            </a:pPr>
            <a:r>
              <a:rPr lang="en-US" sz="1600" b="1" dirty="0"/>
              <a:t>Organic Search and Direct traffic bring in the highest number of visitors to the website. These channels also show relatively strong conversion performance.</a:t>
            </a:r>
          </a:p>
          <a:p>
            <a:pPr>
              <a:buNone/>
            </a:pPr>
            <a:r>
              <a:rPr lang="en-US" sz="1600" b="1" dirty="0"/>
              <a:t>Social Media and Paid Ads contribute traffic as well, but their conversion impact appears lower compared to the other channels.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Strategic Insight</a:t>
            </a:r>
          </a:p>
          <a:p>
            <a:pPr>
              <a:buNone/>
            </a:pPr>
            <a:r>
              <a:rPr lang="en-US" sz="1600" b="1" dirty="0"/>
              <a:t>Organic traffic is especially valuable because it brings users who are actively searching for relevant content or products.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Recommendation</a:t>
            </a:r>
          </a:p>
          <a:p>
            <a:pPr>
              <a:buNone/>
            </a:pPr>
            <a:r>
              <a:rPr lang="en-US" sz="1600" b="1" dirty="0"/>
              <a:t>The company should continue strengthening its SEO strategy while reviewing the targeting and messaging used in paid ads and social media campaigns</a:t>
            </a:r>
            <a:r>
              <a:rPr lang="en-US" sz="16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12AB2-E9A7-7372-F1AF-954A8D856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" y="0"/>
            <a:ext cx="11916697" cy="37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33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3F3AFF-7002-2796-6F83-A784A70AF716}"/>
              </a:ext>
            </a:extLst>
          </p:cNvPr>
          <p:cNvSpPr txBox="1"/>
          <p:nvPr/>
        </p:nvSpPr>
        <p:spPr>
          <a:xfrm>
            <a:off x="265469" y="3509355"/>
            <a:ext cx="1099246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Analysis</a:t>
            </a:r>
            <a:endParaRPr lang="en-US" dirty="0"/>
          </a:p>
          <a:p>
            <a:pPr>
              <a:buNone/>
            </a:pPr>
            <a:r>
              <a:rPr lang="en-US" dirty="0"/>
              <a:t>Website traffic varies depending on the day of the week. The data shows higher traffic levels on </a:t>
            </a:r>
            <a:r>
              <a:rPr lang="en-US" b="1" dirty="0"/>
              <a:t>Monday and Saturday</a:t>
            </a:r>
            <a:r>
              <a:rPr lang="en-US" dirty="0"/>
              <a:t>, while mid-week days tend to be slightly quieter.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Strategic Insight</a:t>
            </a:r>
            <a:endParaRPr lang="en-US" dirty="0"/>
          </a:p>
          <a:p>
            <a:pPr>
              <a:buNone/>
            </a:pPr>
            <a:r>
              <a:rPr lang="en-US" dirty="0"/>
              <a:t>This suggests that users are more likely to browse the website at the start of the week and again during the weekend.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Recommendation</a:t>
            </a:r>
            <a:endParaRPr lang="en-US" dirty="0"/>
          </a:p>
          <a:p>
            <a:pPr>
              <a:buNone/>
            </a:pPr>
            <a:r>
              <a:rPr lang="en-US" dirty="0"/>
              <a:t>Marketing campaigns and promotions should be scheduled around these higher-traffic days to increase visibility and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A32C5-8709-A9B1-A9C8-5ABAF2DF3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110130"/>
            <a:ext cx="11906864" cy="331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3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40FA1B-2800-AD91-6327-82A8029F1461}"/>
              </a:ext>
            </a:extLst>
          </p:cNvPr>
          <p:cNvSpPr txBox="1"/>
          <p:nvPr/>
        </p:nvSpPr>
        <p:spPr>
          <a:xfrm>
            <a:off x="167148" y="3281515"/>
            <a:ext cx="118577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Analysis</a:t>
            </a:r>
            <a:endParaRPr lang="en-US" dirty="0"/>
          </a:p>
          <a:p>
            <a:pPr>
              <a:buNone/>
            </a:pPr>
            <a:r>
              <a:rPr lang="en-US" dirty="0"/>
              <a:t>The data shows that </a:t>
            </a:r>
            <a:r>
              <a:rPr lang="en-US" b="1" dirty="0"/>
              <a:t>evening hours have the highest conversion rate</a:t>
            </a:r>
            <a:r>
              <a:rPr lang="en-US" dirty="0"/>
              <a:t>, slightly higher than morning and afternoon periods.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Strategic Insight</a:t>
            </a:r>
            <a:endParaRPr lang="en-US" dirty="0"/>
          </a:p>
          <a:p>
            <a:pPr>
              <a:buNone/>
            </a:pPr>
            <a:r>
              <a:rPr lang="en-US" dirty="0"/>
              <a:t>This likely reflects typical user behavior. Many people browse casually during the day but make purchasing decisions later in the evening when they have more free time.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Recommendation</a:t>
            </a:r>
            <a:endParaRPr lang="en-US" dirty="0"/>
          </a:p>
          <a:p>
            <a:pPr>
              <a:buNone/>
            </a:pPr>
            <a:r>
              <a:rPr lang="en-US" dirty="0"/>
              <a:t>Promotional campaigns and limited-time offers could be launched during the evening to capture users when they are most ready to convert.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0AB5F-45A3-01D0-FBD6-DCD556BA5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2" y="81481"/>
            <a:ext cx="11857703" cy="325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59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779743-3840-937B-CDE0-4A788D98DEB4}"/>
              </a:ext>
            </a:extLst>
          </p:cNvPr>
          <p:cNvSpPr txBox="1"/>
          <p:nvPr/>
        </p:nvSpPr>
        <p:spPr>
          <a:xfrm>
            <a:off x="235110" y="4025742"/>
            <a:ext cx="115439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Analysis</a:t>
            </a:r>
            <a:endParaRPr lang="en-US" dirty="0"/>
          </a:p>
          <a:p>
            <a:pPr>
              <a:buNone/>
            </a:pPr>
            <a:r>
              <a:rPr lang="en-US" dirty="0"/>
              <a:t>Desktop users have the highest conversion rate, followed by mobile users. Tablet users show the lowest conversion performance.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Strategic Insight</a:t>
            </a:r>
            <a:endParaRPr lang="en-US" dirty="0"/>
          </a:p>
          <a:p>
            <a:pPr>
              <a:buNone/>
            </a:pPr>
            <a:r>
              <a:rPr lang="en-US" dirty="0"/>
              <a:t>This suggests that the purchasing experience may be smoother on desktop devices compared to smaller screens.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Recommendation</a:t>
            </a:r>
            <a:endParaRPr lang="en-US" dirty="0"/>
          </a:p>
          <a:p>
            <a:pPr>
              <a:buNone/>
            </a:pPr>
            <a:r>
              <a:rPr lang="en-US" dirty="0"/>
              <a:t>Improving the tablet and mobile user experience could help increase conversions from these devices.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2AF5E-B31A-6E93-E0A8-8EED3AD39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0" y="112674"/>
            <a:ext cx="11337458" cy="369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77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8602CE-A353-B5B8-15E7-DA429CFB4C1B}"/>
              </a:ext>
            </a:extLst>
          </p:cNvPr>
          <p:cNvSpPr txBox="1"/>
          <p:nvPr/>
        </p:nvSpPr>
        <p:spPr>
          <a:xfrm>
            <a:off x="98320" y="3718679"/>
            <a:ext cx="118380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Analysis</a:t>
            </a:r>
            <a:endParaRPr lang="en-US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United Kingdom shows the highest conversion rate</a:t>
            </a:r>
            <a:r>
              <a:rPr lang="en-US" dirty="0"/>
              <a:t>, followed by </a:t>
            </a:r>
            <a:r>
              <a:rPr lang="en-US" b="1" dirty="0"/>
              <a:t>Canada</a:t>
            </a:r>
            <a:r>
              <a:rPr lang="en-US" dirty="0"/>
              <a:t>, while the </a:t>
            </a:r>
            <a:r>
              <a:rPr lang="en-US" b="1" dirty="0"/>
              <a:t>United States has slightly lower conversion performance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Strategic Insight</a:t>
            </a:r>
            <a:endParaRPr lang="en-US" dirty="0"/>
          </a:p>
          <a:p>
            <a:pPr>
              <a:buNone/>
            </a:pPr>
            <a:r>
              <a:rPr lang="en-US" dirty="0"/>
              <a:t>This indicates that users from the UK and Canada are particularly responsive to the website’s products or marketing campaigns.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Recommendation</a:t>
            </a:r>
            <a:endParaRPr lang="en-US" dirty="0"/>
          </a:p>
          <a:p>
            <a:pPr>
              <a:buNone/>
            </a:pPr>
            <a:r>
              <a:rPr lang="en-US" dirty="0"/>
              <a:t>The company should consider increasing marketing efforts in these high-performing regions while reviewing potential barriers affecting conversions in the US market.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F022F-51B8-8452-453A-A88CC8B2A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7" y="91314"/>
            <a:ext cx="11700387" cy="333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9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C869CC-3F8A-9407-D1A4-18AF401D1FBA}"/>
              </a:ext>
            </a:extLst>
          </p:cNvPr>
          <p:cNvSpPr txBox="1"/>
          <p:nvPr/>
        </p:nvSpPr>
        <p:spPr>
          <a:xfrm>
            <a:off x="309716" y="3986413"/>
            <a:ext cx="115725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Analysis</a:t>
            </a:r>
            <a:endParaRPr lang="en-US" dirty="0"/>
          </a:p>
          <a:p>
            <a:pPr>
              <a:buNone/>
            </a:pPr>
            <a:r>
              <a:rPr lang="en-US" dirty="0"/>
              <a:t>The gender distribution of website visitors is fairly balanced, with slightly more male visitors than female visitors.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Strategic Insight</a:t>
            </a:r>
            <a:endParaRPr lang="en-US" dirty="0"/>
          </a:p>
          <a:p>
            <a:pPr>
              <a:buNone/>
            </a:pPr>
            <a:r>
              <a:rPr lang="en-US" dirty="0"/>
              <a:t>This suggests that the website appeals to a broad audience rather than a very specific demographic.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Recommendation</a:t>
            </a:r>
            <a:endParaRPr lang="en-US" dirty="0"/>
          </a:p>
          <a:p>
            <a:pPr>
              <a:buNone/>
            </a:pPr>
            <a:r>
              <a:rPr lang="en-US" dirty="0"/>
              <a:t>Marketing campaigns can remain broadly targeted, but further segmentation may help uncover opportunities for more personalized marketing.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20CBF-16AC-F167-898A-9556A994D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05" y="117987"/>
            <a:ext cx="10984107" cy="3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87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658059-0DDA-274D-B8CB-F7BD21C50502}"/>
              </a:ext>
            </a:extLst>
          </p:cNvPr>
          <p:cNvSpPr txBox="1"/>
          <p:nvPr/>
        </p:nvSpPr>
        <p:spPr>
          <a:xfrm>
            <a:off x="678426" y="975199"/>
            <a:ext cx="84065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Based on the analysis, several key actions could help improve website performance: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Focus more on high-performing traffic sources such as Organic Search and Direct visits.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Optimize marketing campaigns to align with peak traffic hours.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Improve the website experience for mobile and tablet users.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Increase marketing efforts in high-converting regions like the United Kingdom and Canada.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Revisit paid advertising strategies to improve targeting and conversion efficiency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01F0F-192B-E101-0568-FA5483EC6F17}"/>
              </a:ext>
            </a:extLst>
          </p:cNvPr>
          <p:cNvSpPr txBox="1"/>
          <p:nvPr/>
        </p:nvSpPr>
        <p:spPr>
          <a:xfrm>
            <a:off x="1002890" y="90638"/>
            <a:ext cx="9822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DETAILED FINAL RECOMMENDATIONS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95A90B-3CBB-AEFB-07B9-13133E5A44F1}"/>
              </a:ext>
            </a:extLst>
          </p:cNvPr>
          <p:cNvCxnSpPr>
            <a:cxnSpLocks/>
          </p:cNvCxnSpPr>
          <p:nvPr/>
        </p:nvCxnSpPr>
        <p:spPr>
          <a:xfrm flipV="1">
            <a:off x="0" y="619432"/>
            <a:ext cx="12192000" cy="117537"/>
          </a:xfrm>
          <a:prstGeom prst="line">
            <a:avLst/>
          </a:prstGeom>
          <a:ln w="698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76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39C033-0DD4-36C1-2AB5-DCEAF59268DF}"/>
              </a:ext>
            </a:extLst>
          </p:cNvPr>
          <p:cNvSpPr txBox="1"/>
          <p:nvPr/>
        </p:nvSpPr>
        <p:spPr>
          <a:xfrm>
            <a:off x="344129" y="1446299"/>
            <a:ext cx="1113011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After analyzing the website data, it’s clear that the company already has strong engagement from its visitors.</a:t>
            </a:r>
          </a:p>
          <a:p>
            <a:pPr>
              <a:buNone/>
            </a:pPr>
            <a:r>
              <a:rPr lang="en-US" sz="2400" dirty="0"/>
              <a:t> Users are spending time on the site and exploring multiple pages before converting.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However, there are still opportunities to improve how marketing resources are allocated. By focusing on high-performing channels, optimizing campaign timing, and improving user experience across devices, the company can increase conversions and get better value from its marketing investments.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 dashboard created in this project allows decision-makers to quickly monitor these trends and make smarter, data-driven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B5E69-3BC6-C090-9C92-C00DEE45C437}"/>
              </a:ext>
            </a:extLst>
          </p:cNvPr>
          <p:cNvSpPr txBox="1"/>
          <p:nvPr/>
        </p:nvSpPr>
        <p:spPr>
          <a:xfrm>
            <a:off x="3244646" y="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FINAL THOUGHTS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69CC00-5D71-3582-F9C8-152C759AFCEC}"/>
              </a:ext>
            </a:extLst>
          </p:cNvPr>
          <p:cNvCxnSpPr>
            <a:cxnSpLocks/>
          </p:cNvCxnSpPr>
          <p:nvPr/>
        </p:nvCxnSpPr>
        <p:spPr>
          <a:xfrm flipV="1">
            <a:off x="0" y="530942"/>
            <a:ext cx="12192000" cy="108118"/>
          </a:xfrm>
          <a:prstGeom prst="line">
            <a:avLst/>
          </a:prstGeom>
          <a:ln w="666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18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90081-8E59-C51E-4D37-9C5EF989799E}"/>
              </a:ext>
            </a:extLst>
          </p:cNvPr>
          <p:cNvSpPr/>
          <p:nvPr/>
        </p:nvSpPr>
        <p:spPr>
          <a:xfrm>
            <a:off x="1417315" y="1964445"/>
            <a:ext cx="935736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6178D9-8B9C-345F-5947-6906B6D3B10C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29064C-BEB2-D473-0BC1-5BCDA5ACE71A}"/>
              </a:ext>
            </a:extLst>
          </p:cNvPr>
          <p:cNvCxnSpPr>
            <a:cxnSpLocks/>
          </p:cNvCxnSpPr>
          <p:nvPr/>
        </p:nvCxnSpPr>
        <p:spPr>
          <a:xfrm>
            <a:off x="0" y="5068529"/>
            <a:ext cx="12192000" cy="0"/>
          </a:xfrm>
          <a:prstGeom prst="line">
            <a:avLst/>
          </a:prstGeom>
          <a:ln w="984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00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 Display</vt:lpstr>
      <vt:lpstr>Aptos</vt:lpstr>
      <vt:lpstr>Arial</vt:lpstr>
      <vt:lpstr>Office Theme</vt:lpstr>
      <vt:lpstr>BRIGHTCART  Website PERFOMANCE Analytics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LOVETH ILEN</dc:creator>
  <cp:lastModifiedBy>LOVETH ILEN</cp:lastModifiedBy>
  <cp:revision>1</cp:revision>
  <dcterms:created xsi:type="dcterms:W3CDTF">2026-03-08T02:25:53Z</dcterms:created>
  <dcterms:modified xsi:type="dcterms:W3CDTF">2026-03-08T02:25:53Z</dcterms:modified>
</cp:coreProperties>
</file>